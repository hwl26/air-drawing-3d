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653cc311e5433f" /><Relationship Type="http://schemas.openxmlformats.org/officeDocument/2006/relationships/extended-properties" Target="/docProps/app.xml" Id="Rcd7253de244e4009" /><Relationship Type="http://schemas.openxmlformats.org/officeDocument/2006/relationships/officeDocument" Target="/ppt/presentation.xml" Id="R81a324f64a5744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598df9f8a94195"/>
  </p:sldMasterIdLst>
  <p:notesMasterIdLst>
    <p:notesMasterId xmlns:r="http://schemas.openxmlformats.org/officeDocument/2006/relationships" r:id="R626a6ee4aa9c462c"/>
  </p:notesMasterIdLst>
  <p:sldIdLst>
    <p:sldId xmlns:r="http://schemas.openxmlformats.org/officeDocument/2006/relationships" id="256" r:id="Rafeb1b58d1e441bb"/>
    <p:sldId xmlns:r="http://schemas.openxmlformats.org/officeDocument/2006/relationships" id="257" r:id="Rb6d745f826344638"/>
    <p:sldId xmlns:r="http://schemas.openxmlformats.org/officeDocument/2006/relationships" id="258" r:id="Ra4297a32a3844bda"/>
    <p:sldId xmlns:r="http://schemas.openxmlformats.org/officeDocument/2006/relationships" id="259" r:id="Rf0f0cd05637f411b"/>
    <p:sldId xmlns:r="http://schemas.openxmlformats.org/officeDocument/2006/relationships" id="260" r:id="Rc7a683772d4c4e69"/>
    <p:sldId xmlns:r="http://schemas.openxmlformats.org/officeDocument/2006/relationships" id="261" r:id="R7dc72198451848aa"/>
    <p:sldId xmlns:r="http://schemas.openxmlformats.org/officeDocument/2006/relationships" id="262" r:id="R4b1135a623f94991"/>
    <p:sldId xmlns:r="http://schemas.openxmlformats.org/officeDocument/2006/relationships" id="263" r:id="R9ce2c68c348049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a2f9e189c748ee" /><Relationship Type="http://schemas.openxmlformats.org/officeDocument/2006/relationships/slideMaster" Target="/ppt/slideMasters/slideMaster1.xml" Id="R1f598df9f8a94195" /><Relationship Type="http://schemas.openxmlformats.org/officeDocument/2006/relationships/notesMaster" Target="/ppt/notesMasters/notesMaster1.xml" Id="R626a6ee4aa9c462c" /><Relationship Type="http://schemas.openxmlformats.org/officeDocument/2006/relationships/presProps" Target="/ppt/presProps.xml" Id="R533a67d531074926" /><Relationship Type="http://schemas.openxmlformats.org/officeDocument/2006/relationships/tableStyles" Target="/ppt/tableStyles.xml" Id="R81df746e75294f84" /><Relationship Type="http://schemas.openxmlformats.org/officeDocument/2006/relationships/slide" Target="/ppt/slides/slide1.xml" Id="Rafeb1b58d1e441bb" /><Relationship Type="http://schemas.openxmlformats.org/officeDocument/2006/relationships/slide" Target="/ppt/slides/slide2.xml" Id="Rb6d745f826344638" /><Relationship Type="http://schemas.openxmlformats.org/officeDocument/2006/relationships/slide" Target="/ppt/slides/slide3.xml" Id="Ra4297a32a3844bda" /><Relationship Type="http://schemas.openxmlformats.org/officeDocument/2006/relationships/slide" Target="/ppt/slides/slide4.xml" Id="Rf0f0cd05637f411b" /><Relationship Type="http://schemas.openxmlformats.org/officeDocument/2006/relationships/slide" Target="/ppt/slides/slide5.xml" Id="Rc7a683772d4c4e69" /><Relationship Type="http://schemas.openxmlformats.org/officeDocument/2006/relationships/slide" Target="/ppt/slides/slide6.xml" Id="R7dc72198451848aa" /><Relationship Type="http://schemas.openxmlformats.org/officeDocument/2006/relationships/slide" Target="/ppt/slides/slide7.xml" Id="R4b1135a623f94991" /><Relationship Type="http://schemas.openxmlformats.org/officeDocument/2006/relationships/slide" Target="/ppt/slides/slide8.xml" Id="R9ce2c68c348049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39bd82010040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6bee10a89d446b" /><Relationship Type="http://schemas.openxmlformats.org/officeDocument/2006/relationships/notesMaster" Target="/ppt/notesMasters/notesMaster1.xml" Id="Rcda2d64596364d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46688f2d5c4038" /><Relationship Type="http://schemas.openxmlformats.org/officeDocument/2006/relationships/notesMaster" Target="/ppt/notesMasters/notesMaster1.xml" Id="R7d2a9e0e3f3d4a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286b132f3f4d33" /><Relationship Type="http://schemas.openxmlformats.org/officeDocument/2006/relationships/notesMaster" Target="/ppt/notesMasters/notesMaster1.xml" Id="R8b7f8290a2fa49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84d0ab319c44c1" /><Relationship Type="http://schemas.openxmlformats.org/officeDocument/2006/relationships/notesMaster" Target="/ppt/notesMasters/notesMaster1.xml" Id="Rb5aeae573b8244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cfc7fca2d843dc" /><Relationship Type="http://schemas.openxmlformats.org/officeDocument/2006/relationships/notesMaster" Target="/ppt/notesMasters/notesMaster1.xml" Id="Rc41dfdb0aee34d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9e98ef53d24ef1" /><Relationship Type="http://schemas.openxmlformats.org/officeDocument/2006/relationships/notesMaster" Target="/ppt/notesMasters/notesMaster1.xml" Id="R47e75b4c312f40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202128ab9f4327" /><Relationship Type="http://schemas.openxmlformats.org/officeDocument/2006/relationships/notesMaster" Target="/ppt/notesMasters/notesMaster1.xml" Id="R3ec5df755bf542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5dda7ea8d241dd" /><Relationship Type="http://schemas.openxmlformats.org/officeDocument/2006/relationships/notesMaster" Target="/ppt/notesMasters/notesMaster1.xml" Id="R49ef2950661347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资料来源：项目 README.md、USER_GUIDE.md。正式项目名称、队员、学校和指导教师待提交人填写。</a:t>
            </a:r>
          </a:p>
          <a:p xmlns:a="http://schemas.openxmlformats.org/drawingml/2006/main">
            <a:r>
              <a:t>本页的手部示意为可编辑的演示图形，不代表模型推理结果。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资料来源：项目说明书、USER_GUIDE.md。功能描述基于当前代码实现，未把未完成的研究功能当作现成功能。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资料来源：README.md、USER_GUIDE.md、app.js。MediaPipe Hand Landmarker 负责关键点推理，Three.js 负责 3D 渲染。</a:t>
            </a:r>
          </a:p>
          <a:p xmlns:a="http://schemas.openxmlformats.org/drawingml/2006/main">
            <a:r>
              <a:t>参考：MediaPipe 官方文档 https://ai.google.dev/edge/mediapipe/solutions/vision/hand_landmarker/web_js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视觉素材：项目 video-frames/frame-157.jpg，作为本项目已有演示帧。</a:t>
            </a:r>
          </a:p>
          <a:p xmlns:a="http://schemas.openxmlformats.org/drawingml/2006/main">
            <a:r>
              <a:t>功能依据：app.js、USER_GUIDE.md。截图用于展示效果，不代表本页新增模型或测试结论。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资料来源：USER_GUIDE.md、app.js。手势名称和行为按当前项目实现整理。旋转轴、坐标系与姿态切换说明见 USER_GUIDE.md。</a:t>
            </a:r>
          </a:p>
          <a:p xmlns:a="http://schemas.openxmlformats.org/drawingml/2006/main">
            <a:r>
              <a:t>本页不宣称深度摄像头测距，z 为相对深度估计。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资料来源：USER_GUIDE.md、app.js。双手高级模式是项目中的可选交互模式，实际识别依赖摄像头画面和当前光照。</a:t>
            </a:r>
          </a:p>
          <a:p xmlns:a="http://schemas.openxmlformats.org/drawingml/2006/main">
            <a:r>
              <a:t>本页给出演示建议，不把双手模式描述为医学级精度工具。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来源：项目版权与第三方声明.md、README.md。BodyParts3D 许可证来源：http://dbarchive.biosciencedbc.jp/en/bodyparts3d/lic.html</a:t>
            </a:r>
          </a:p>
          <a:p xmlns:a="http://schemas.openxmlformats.org/drawingml/2006/main">
            <a:r>
              <a:t>MediaPipe 文档：https://ai.google.dev/edge/mediapipe/solutions/vision/hand_landmarker/web_js</a:t>
            </a:r>
          </a:p>
          <a:p xmlns:a="http://schemas.openxmlformats.org/drawingml/2006/main">
            <a:r>
              <a:t>Three.js：https://github.com/mrdoob/three.js</a:t>
            </a:r>
          </a:p>
          <a:p xmlns:a="http://schemas.openxmlformats.org/drawingml/2006/main">
            <a:r>
              <a:t>Hyper3D Rodin 文档：https://developer.hyper3d.ai/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资料来源：submission/README.md、00_待补信息.md、现场演示脚本.md。演示视频链接和团队信息未由用户提供，保留待填写占位。</a:t>
            </a:r>
          </a:p>
          <a:p xmlns:a="http://schemas.openxmlformats.org/drawingml/2006/main">
            <a:r>
              <a:t>本页只说明已生成的提交材料，不宣称视频已上传。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9d1eda99c94d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a11792cb254baf" /><Relationship Type="http://schemas.openxmlformats.org/officeDocument/2006/relationships/slideLayout" Target="/ppt/slideLayouts/slideLayout1.xml" Id="Rf1730c2dfc514d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730c2dfc514d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66450769341d0" /><Relationship Type="http://schemas.openxmlformats.org/officeDocument/2006/relationships/notesSlide" Target="/ppt/notesSlides/notesSlide1.xml" Id="Rc9e78002b48d46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d867e3f8949ba" /><Relationship Type="http://schemas.openxmlformats.org/officeDocument/2006/relationships/notesSlide" Target="/ppt/notesSlides/notesSlide2.xml" Id="R942d989dcaa84b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f4ff4031e499b" /><Relationship Type="http://schemas.openxmlformats.org/officeDocument/2006/relationships/notesSlide" Target="/ppt/notesSlides/notesSlide3.xml" Id="R0a737fa5d1214e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d641aaa924cf1" /><Relationship Type="http://schemas.openxmlformats.org/officeDocument/2006/relationships/image" Target="/ppt/media/image.jpeg" Id="R0fc831284c294433" /><Relationship Type="http://schemas.openxmlformats.org/officeDocument/2006/relationships/notesSlide" Target="/ppt/notesSlides/notesSlide4.xml" Id="Recc3e3c35f2f40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9945dd1d6407d" /><Relationship Type="http://schemas.openxmlformats.org/officeDocument/2006/relationships/notesSlide" Target="/ppt/notesSlides/notesSlide5.xml" Id="Ra684f437bcd64d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99c1f7d294515" /><Relationship Type="http://schemas.openxmlformats.org/officeDocument/2006/relationships/notesSlide" Target="/ppt/notesSlides/notesSlide6.xml" Id="R7b68c24c209542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c245e761a45ce" /><Relationship Type="http://schemas.openxmlformats.org/officeDocument/2006/relationships/notesSlide" Target="/ppt/notesSlides/notesSlide7.xml" Id="R13e83b4dfc764b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40bf8102149c3" /><Relationship Type="http://schemas.openxmlformats.org/officeDocument/2006/relationships/notesSlide" Target="/ppt/notesSlides/notesSlide8.xml" Id="Rae1948cf071947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4A6AC6-2AB3-4BFE-8003-B46032C7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19396-BEF6-46A8-8ED9-4B5D5E3B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465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0189E-208E-4E4F-9B51-81DF8B44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D9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4D9E8"/>
                </a:solidFill>
                <a:latin typeface="Arial"/>
                <a:ea typeface="Arial"/>
                <a:cs typeface="Arial"/>
              </a:rPr>
              <a:t>实时手部追踪 · 隔空绘画 · 3D 交互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0E379-4D39-4D63-8278-19755F18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42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Air Drawing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F3E32-B2C1-4A65-86E9-E4741BD8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用手势直接绘制、选择并操控三维模型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AEE0A-EEE3-42F0-805D-C0591205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提交展示材料  /  版本 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AD3CA-923B-48F9-AF0F-F9FDD9B8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990600"/>
            <a:ext cx="2952750" cy="40005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C45F0-8D1D-462C-867B-CCCEB55C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0" cy="2114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4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4F6C0-7827-463A-A92B-006A3879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6667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4D9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69675-E9DC-4327-A4EC-D5473CEE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62150"/>
            <a:ext cx="66675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4D9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E16FD-E1F3-4F59-BDA0-5D8AD02B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5715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4D9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72769-F134-424A-986B-31D514BB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29050"/>
            <a:ext cx="6667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4D9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A21BF-B608-49AF-B8FC-1BFDE2A8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38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65C"/>
          </a:solidFill>
          <a:ln xmlns:a="http://schemas.openxmlformats.org/drawingml/2006/main" w="9525">
            <a:solidFill>
              <a:srgbClr val="FF465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3C208-AF6A-43DD-ACD4-F858A169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0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65C"/>
          </a:solidFill>
          <a:ln xmlns:a="http://schemas.openxmlformats.org/drawingml/2006/main" w="9525">
            <a:solidFill>
              <a:srgbClr val="FF465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907A7-69A5-4153-BACE-91BAF421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24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65C"/>
          </a:solidFill>
          <a:ln xmlns:a="http://schemas.openxmlformats.org/drawingml/2006/main" w="9525">
            <a:solidFill>
              <a:srgbClr val="FF465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E5B2F-C61E-4CFA-931A-9808C1B6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85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65C"/>
          </a:solidFill>
          <a:ln xmlns:a="http://schemas.openxmlformats.org/drawingml/2006/main" w="9525">
            <a:solidFill>
              <a:srgbClr val="FF465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02775-7C1C-45C8-883A-FDEC9B38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52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65C"/>
          </a:solidFill>
          <a:ln xmlns:a="http://schemas.openxmlformats.org/drawingml/2006/main" w="9525">
            <a:solidFill>
              <a:srgbClr val="FF465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F25E4-6736-4EEC-87B4-693A4913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65C"/>
          </a:solidFill>
          <a:ln xmlns:a="http://schemas.openxmlformats.org/drawingml/2006/main" w="9525">
            <a:solidFill>
              <a:srgbClr val="FF465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902A39-98E1-4872-A664-151D5615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65C"/>
          </a:solidFill>
          <a:ln xmlns:a="http://schemas.openxmlformats.org/drawingml/2006/main" w="9525">
            <a:solidFill>
              <a:srgbClr val="FF46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81E72-8E70-4AC7-92FE-A86ABD24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38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HAND → CANVAS →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2500BB-6912-4A90-822D-8E6F9077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项目名称 / 队员 / 学校：见《待补信息》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9015B7-A910-47E7-917B-95860300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1EC238-69F1-4FCE-8F05-FA577B59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5B1C2"/>
                </a:solidFill>
                <a:latin typeface="Arial"/>
                <a:ea typeface="Arial"/>
                <a:cs typeface="Arial"/>
              </a:rPr>
              <a:t>AIR DRAWING  /  项目展示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A03DCF-D44D-4142-9A89-0E024D25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13116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45927-817A-4E9E-BF4D-02954B7F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01 / 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753F1-42DD-4724-9A09-5CAD451B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把摄像头输入变成可操作的空间交互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BDB73-02C9-46AF-B1B3-6A671CDF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面向教学演示、人体结构观察和快速草图表达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429EA-E2D4-4D92-87A7-7621413C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40527-3E90-468A-9BD9-3953BE64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传统鼠标操作把注意力分散在工具栏与模型之间。项目将手部位置、姿态和动作映射为统一的交互状态。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AE013-3C12-4982-817F-968F6327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C0066-07B8-45D7-BCAE-A001438B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0" cy="1962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4D9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C4AE7-A16C-474F-9181-6BB2F855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D9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4D9E8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30B51-CE5A-48E7-B3B6-6403D953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普通电脑摄像头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E9E90-AD38-4303-9012-30C4C232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无需专用手套或控制器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625B2-3CE5-4DDD-9996-DDF97BD7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71850"/>
            <a:ext cx="0" cy="1962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465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12DBC-E0D1-4878-AB71-A9B616D0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90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表达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FC8EA-97AF-428D-B816-F7A3C72A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0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食指画线 / 捏合控笔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5EC3E-B847-4D68-81A3-F5850D46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624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手部骨架与指尖坐标实时反馈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976FC-07AC-4F54-A3A9-B80CA36C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0" cy="1962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E0A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6B7F6-4975-489F-8F3A-816383EF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90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E0A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0E0A2"/>
                </a:solidFill>
                <a:latin typeface="Arial"/>
                <a:ea typeface="Arial"/>
                <a:cs typeface="Arial"/>
              </a:rPr>
              <a:t>操作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CDD1A-C12E-450F-8002-D6728AFB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0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手势控制 3D 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5720E-0DF8-4110-AC73-EF0128A4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624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选择、移动、旋转、缩放、整体切换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16AD3-E412-47A0-B5C4-1140BFA1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DFCAD-86E1-4B33-89EB-4FD03D99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1036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目标：在可解释的手势规则下，保持连续、可停笔、可恢复的交互体验。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7AAAB9-5CA7-4D89-B59F-4EEBA779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C35331-DD91-4E47-AE66-789D612E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5B1C2"/>
                </a:solidFill>
                <a:latin typeface="Arial"/>
                <a:ea typeface="Arial"/>
                <a:cs typeface="Arial"/>
              </a:rPr>
              <a:t>AIR DRAWING  /  项目展示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C772E-F392-4273-A000-A53E9909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587856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C9AA27-EAA0-491A-94F1-342A817E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02 / 系统流程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0757B-C677-43AA-B48E-A3802A84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从摄像头到画布与 3D 视口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11B79-9525-44F2-BA5E-010A7148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每一帧都经过关键点、平滑和状态判断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E9ED4-6B1F-46E9-9584-F50137B4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4E0C8-792B-4194-9C7C-CF650A15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266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E2A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08AB7-FFDA-473D-A59E-6FC3F16D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D9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4D9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AEEDB-162F-4FA2-888E-124DBF75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摄像头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928BC-50AB-4334-B8D7-D72B5C16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HTML video</a:t>
            </a:r>
          </a:p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requestAnimationFrame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0D431-7D5F-4E49-BE32-CB69AFCE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766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65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9E9A6-3EF5-43F6-A0BD-03ECB7D4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66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E2A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3989E-1DF0-471C-B364-29018C6A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86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DED92-78BF-4E7A-B1CF-B82EC0FD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051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Hand Landmarker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68252-347D-41F4-B114-9D0D300E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9570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21 个关键点</a:t>
            </a:r>
          </a:p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左右手分类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1D0A2-A0E0-4783-8E0E-230A2CBE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766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65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DFAF8-F1A7-4498-B1BF-55BB64A1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2266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E2A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7C3CC-E45A-473B-87DF-7FE3135D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967DF-0826-4C09-B88B-D121DAE6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状态机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ACBD5-6A43-4941-95C7-9496DAE8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V 字选择</a:t>
            </a:r>
          </a:p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单指移动 / 握拳旋转 / 捏合缩放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D2AC61-BAB8-443C-B784-EFA2343C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766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6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AE4BE-BB8C-485E-B1FC-172AFD51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266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E2A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C4BD5E-8926-4BAA-BA66-57B568C8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E0A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0E0A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6CD05-F592-4D27-A4E1-D7FB85EE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051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375CDC-A159-4842-A60F-A4A1F650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9570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Canvas 线条</a:t>
            </a:r>
          </a:p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Three.js 模型变换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10C76D-EBFA-4EE7-9264-61103C0B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0820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51E0E0-FF04-4A95-9184-74CF6A7E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可靠性设计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107F14-EBAD-4259-936E-C76B268D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054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指尖坐标平滑、手部短暂丢失时暂停连线、模型移动受视口边界约束，避免跳出画面。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FB8F11-94A3-470E-903B-F3393D1E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错误信息会输出到浏览器控制台，模型加载和摄像头权限失败会提示用户。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1FA08C-A964-46ED-BE7B-395D6E6C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CE00F6-AF3C-4CF8-8E15-2F6DC443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5B1C2"/>
                </a:solidFill>
                <a:latin typeface="Arial"/>
                <a:ea typeface="Arial"/>
                <a:cs typeface="Arial"/>
              </a:rPr>
              <a:t>AIR DRAWING  /  项目展示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3457F1-634C-4714-B80D-3BB245D9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87599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579A8E-D5C5-45DB-BB4F-809DF3A9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03 / 隔空绘画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89357-F235-48F7-A6FD-817F9F85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捏合开始绘制，松开即停笔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EADEA-1717-4E55-8623-DD66E1B4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绘画图层与视频画面分离，保留已有笔画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C25ED-5C07-40ED-9F7A-C80A5635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831284c294433"/>
          <a:srcRect xmlns:a="http://schemas.openxmlformats.org/drawingml/2006/main" l="0" t="16026" r="0" b="160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4000500" cy="3619500"/>
          </a:xfrm>
          <a:prstGeom xmlns:a="http://schemas.openxmlformats.org/drawingml/2006/main" prst="roundRect">
            <a:avLst>
              <a:gd name="adj" fmla="val 473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2D8E9-CAEE-47C3-8C7F-93767158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95500"/>
            <a:ext cx="6477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A107B-54D3-4798-A2A7-EEDAB225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00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操作逻辑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488E9-B207-4B79-BD02-7E135538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57550"/>
            <a:ext cx="579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DB5F8-907E-4D87-8154-5D30420A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57500"/>
            <a:ext cx="95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4D9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69F92-76D6-4927-A1AD-B2FC5BA2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765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捏合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D3DA8-89A4-4BD5-9001-56EA597F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拇指 + 食指距离低于阈值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2EF8F-B130-4196-94B5-FD9BA0C6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76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开始新笔画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90AC9-8426-4C9D-AFAB-CD8CB7E3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67150"/>
            <a:ext cx="579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06D21-9028-4472-B15D-87FF29A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67100"/>
            <a:ext cx="95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E0A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3D0DE8-A507-4131-A1E7-E3FA6BB5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861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移动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3F4DA-D901-4C6D-9019-A8D3C46B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食指指尖作为画笔位置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BC7B9-F41B-44D4-B4AC-E092F3DA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86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绘制连续轨迹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4A562-915E-42AC-901A-13A418AB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76750"/>
            <a:ext cx="579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351469-76F4-40EB-A30A-7AEF838D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76700"/>
            <a:ext cx="95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0D5733-38D5-423A-9695-67DBFBD1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95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松开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CC8DB-7E6C-472D-B4B9-60EC6CB6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捏合状态解除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628D25-8610-4A05-9109-976D6333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95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结束当前笔画，不自动连接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5F771-F092-4A56-B4D2-469D2C4A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86350"/>
            <a:ext cx="579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9C452D-3ACF-4D8D-AB77-0F3B005C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86300"/>
            <a:ext cx="95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65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B2735A-D7AA-4F33-810F-36291686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053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工具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38B343-B680-4FEA-8F26-A4D5DD74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颜色 / 粗细 / 橡皮 / 撤销 / 清空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BA3088-A34C-4E98-A9F5-2720B5F2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05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即时调整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ACB358-0F84-4413-A804-ACB5935A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演示截图来自项目已有视频帧。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B9354D-2EDD-4423-8765-8F802300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033D52-ED54-4E4E-8809-5A4668FC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5B1C2"/>
                </a:solidFill>
                <a:latin typeface="Arial"/>
                <a:ea typeface="Arial"/>
                <a:cs typeface="Arial"/>
              </a:rPr>
              <a:t>AIR DRAWING  /  项目展示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6598FD-1D57-4120-B032-B5C42EA0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68660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69EF39-249A-4620-A5C4-4B591406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04 / 3D 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40C7A-4AB5-42E5-B140-EAF82CA9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用互不重叠的姿态控制模型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0ADA7-A392-41EB-A9D6-A43CEFFD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默认以单手为主，双手模式用于需要更大控制范围的场景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6FE9C-27F4-4CBD-A74E-30588CA2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1A633-BE08-4423-9B25-9209C75E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2FA97-2D45-438B-BFFD-CC9CCF27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B1C2"/>
                </a:solidFill>
                <a:latin typeface="Arial"/>
                <a:ea typeface="Arial"/>
                <a:cs typeface="Arial"/>
              </a:rPr>
              <a:t>姿态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A3F2C-56C3-4AB5-A318-88C925CC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B1C2"/>
                </a:solidFill>
                <a:latin typeface="Arial"/>
                <a:ea typeface="Arial"/>
                <a:cs typeface="Arial"/>
              </a:rPr>
              <a:t>判定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C2BDD-81BF-43B3-8DA6-C99E7664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B1C2"/>
                </a:solidFill>
                <a:latin typeface="Arial"/>
                <a:ea typeface="Arial"/>
                <a:cs typeface="Arial"/>
              </a:rPr>
              <a:t>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78EF3-359F-4F55-B29B-C155EE70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3C9B9-7886-486E-B139-6896000B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4D9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F45AE-4AA3-45F5-9B9B-0EDFB05C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V 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B8316-3ABD-40B9-823B-366F0A2C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食指 + 中指伸出并停留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2EBEF-A106-4B31-9FD1-740FFB15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选择感兴趣的部件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3BACA-2BDD-4AD5-8275-6D96E100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64F6F-9412-4750-ACB9-BFCE2E2F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43275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E0A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A1DE0F-3CB7-44D9-BF96-D37D4CE9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单食指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831DB0-F428-4915-B7C8-1BFCCCFF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14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其余手指收拢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59E0A1-4DD7-409E-A87E-427BD4D3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14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移动选中部件，中心跟随指尖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776904-6768-4624-8606-76FC3E8C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F6B6CA-A18D-41D2-9ECA-FBD8911B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65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5615AC-F2F7-44F6-B78D-956B4506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握拳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6DE897-33FD-4B9E-B7A5-482A622E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48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五指收拢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978C43-D586-4A10-9F4B-8948086E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绕屏幕轴旋转，松手即停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D89C8F-CCE5-4CB4-B33A-AA761FA5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607D96-64A7-4B24-8900-0B7A2756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0075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977137-224E-409E-8826-941895C1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拇指 + 食指捏合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F0DF00-810B-4F60-8F1A-22EF878B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81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捏合后上下移动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93B179-F2E1-4929-87AB-A776B965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连续缩放，可重复操作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3F848A-481E-4C4F-86E4-D7EEBD37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C12728-FBFD-4DCE-9AE0-3ACF7455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4D9E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7CC713-A26A-4CF7-A99B-C42FA821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14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竖起拇指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A7F7F1-4C35-42E9-AC89-50EE9FA7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14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单独保持拇指伸出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46E929-215D-4E20-AC09-43D92E92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切换整体模型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BADD0F-F8AA-471C-AA1F-1998E15D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控制策略：进入姿态需要短暂稳定，退出姿态立即停止当前变换，减少误识别。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36FE30-9FC7-4169-ADDE-08BA1F1C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8C096E-3449-4750-8121-DADD8B95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5B1C2"/>
                </a:solidFill>
                <a:latin typeface="Arial"/>
                <a:ea typeface="Arial"/>
                <a:cs typeface="Arial"/>
              </a:rPr>
              <a:t>AIR DRAWING  /  项目展示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9A44A4-CA74-41E2-B2A8-F221B579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53887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5E4FDB-2E19-47ED-A3A3-85A6B4B5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05 / 双手高级模式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A3E8D-3EA8-4592-BE1E-A0C2FA25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把两只手分工，减少模式冲突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A3CDC-9BDC-4014-B99F-9C795DB3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左手负责视角或整体，右手负责部件级操作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C994D-D3B0-4BAC-B6E1-CF481364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F2404-F23B-474C-AB04-6B9FF283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51E2A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CE327-A91C-4172-9077-8BC22E5E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6695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51E2A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DC07A-0599-40B6-9FBF-3BDC964F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D9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4D9E8"/>
                </a:solidFill>
                <a:latin typeface="Arial"/>
                <a:ea typeface="Arial"/>
                <a:cs typeface="Arial"/>
              </a:rPr>
              <a:t>左手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A6F5B-749A-4B8C-BAB4-3CC77B33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整体视角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32A90-C9F7-4D3D-83D3-6C89A5F3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张掌：旋转视角</a:t>
            </a:r>
          </a:p>
          <a:p xmlns:a="http://schemas.openxmlformats.org/drawingml/2006/main">
            <a:pPr algn="l">
              <a:defRPr sz="150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拇指：整体模型</a:t>
            </a:r>
          </a:p>
          <a:p xmlns:a="http://schemas.openxmlformats.org/drawingml/2006/main">
            <a:pPr algn="l">
              <a:defRPr sz="150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远离画布边缘时保持稳定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C8148-0453-40DF-8F21-3DBF00A9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0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右手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086A5-4CA8-4193-8E34-95642E3B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48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部件操作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DADE2-E4DB-42F1-9846-4560CBD2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14750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V 字：选择</a:t>
            </a:r>
          </a:p>
          <a:p xmlns:a="http://schemas.openxmlformats.org/drawingml/2006/main">
            <a:pPr algn="l">
              <a:defRPr sz="150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单食指：移动</a:t>
            </a:r>
          </a:p>
          <a:p xmlns:a="http://schemas.openxmlformats.org/drawingml/2006/main">
            <a:pPr algn="l">
              <a:defRPr sz="150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捏合：缩放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0CDC2-D199-4C88-AD54-04A2B5E9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95700"/>
            <a:ext cx="129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65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95B8A-D53F-4009-999F-04C79178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52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分工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8C3B8-DE3F-4DC8-9DAB-EAA87840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DEFE6-1C69-4A7B-8DDB-08596ECF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建议：初次演示先用单手模式，熟悉后再开启双手高级模式。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727D5-1193-4CDF-8442-781E1FEB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240D12-5DAE-4B6E-8374-35E3C67C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5B1C2"/>
                </a:solidFill>
                <a:latin typeface="Arial"/>
                <a:ea typeface="Arial"/>
                <a:cs typeface="Arial"/>
              </a:rPr>
              <a:t>AIR DRAWING  /  项目展示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DD52F7-8D8A-402D-94D3-73D2F3D0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55045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7ABDD5-BE03-4093-B8DD-04507F57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06 / 技术与来源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5738D-F8D6-470B-99DF-6179E4E5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浏览器端运行，模型资源与密钥分离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041DF-BE65-49DC-9559-C5D49A08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核心功能可在本地运行，Hyper3D 作为可选扩展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1F836-EAE3-44D1-B52E-A0A90C52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66DC6-97D7-4ED6-82FA-D37EE91B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E2A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27C94-9F0A-40AD-ADBB-B81BB4CD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5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4D9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1C19E-DF51-4F3E-8580-0CEDDFFB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B1C2"/>
                </a:solidFill>
                <a:latin typeface="Arial"/>
                <a:ea typeface="Arial"/>
                <a:cs typeface="Arial"/>
              </a:rPr>
              <a:t>前端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AF0C8-AB51-4AB3-A5B0-653A5857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383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HTML / CSS / JavaScript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5B198-9FA5-40D3-93AB-FE8B4851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95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E2A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20CBE-5314-45DC-A149-45E03B42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95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65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E6D86-696B-4720-848A-81E3329E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289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B1C2"/>
                </a:solidFill>
                <a:latin typeface="Arial"/>
                <a:ea typeface="Arial"/>
                <a:cs typeface="Arial"/>
              </a:rPr>
              <a:t>追踪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4F3FB-2054-4518-841D-154940A3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289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Google MediaPipe Hand Landmarker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2E5E2-012C-4A0D-9A98-CB2001CA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5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E2A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7414C-0ED1-4B13-B106-E201EF3F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95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E0A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0FDB7-9E96-4B17-BA9D-7963F6FB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194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B1C2"/>
                </a:solidFill>
                <a:latin typeface="Arial"/>
                <a:ea typeface="Arial"/>
                <a:cs typeface="Arial"/>
              </a:rPr>
              <a:t>绘画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3549A-CCBD-4C4C-B74E-C9A1C9EC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194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Canvas 2D 独立图层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AC134-25C9-43FB-BF8A-BE948278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95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E2A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8A546E-2417-498A-A113-E765C2B9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95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0C3034-A282-4C00-AA5B-04722AFC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00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B1C2"/>
                </a:solidFill>
                <a:latin typeface="Arial"/>
                <a:ea typeface="Arial"/>
                <a:cs typeface="Arial"/>
              </a:rPr>
              <a:t>3D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32D08C-0C44-4DE0-9D79-DAF5954C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100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Three.js + OBJ / GLB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35AE93-0D76-4763-B239-77DF7E22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95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1E2A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CF12A2-7FA4-4626-8585-DBE46376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95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4D9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79B614-499E-4EC8-A5F6-4BCCCFA8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005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5B1C2"/>
                </a:solidFill>
                <a:latin typeface="Arial"/>
                <a:ea typeface="Arial"/>
                <a:cs typeface="Arial"/>
              </a:rPr>
              <a:t>扩展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3E3B0E-0710-4B42-BD74-67C0ED4D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005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Hyper3D Rodin API（可选）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1C40AE-B9A9-42E1-8C84-FB157B5F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52197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20C745-A7AE-4FCC-8ACA-D881B383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提交注意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227F37-49A5-4DD5-9E69-7464F423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第三方声明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58650F-67E9-4137-9BC7-66327A84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90900"/>
            <a:ext cx="409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MediaPipe：Google 官方模型方案</a:t>
            </a:r>
          </a:p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Three.js：MIT License</a:t>
            </a:r>
          </a:p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BodyParts3D：CC Attribution-Share Alike 2.1 Japan</a:t>
            </a:r>
          </a:p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Hyper3D：仅在配置 API Key 后启用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8870CC-9611-469B-9C26-3C1F5F07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196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密钥放在本地 .env，不进入仓库或提交包。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C8F470-39E9-4662-9D52-B1753651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D89264-2A6B-4059-8B09-232C6DEC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5B1C2"/>
                </a:solidFill>
                <a:latin typeface="Arial"/>
                <a:ea typeface="Arial"/>
                <a:cs typeface="Arial"/>
              </a:rPr>
              <a:t>AIR DRAWING  /  项目展示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B68E21-5028-4217-8430-4CBF5784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809694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EB1875-E620-48D9-B3F6-41797CD0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07 / 演示与提交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7F99B-AF2C-416C-B45B-CE8AFFD9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一套可复现的现场流程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3ABE2-2439-48E3-AF34-DCD96663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先展示稳定基础功能，再展示扩展模式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85445-39CE-497C-A0C0-AFE46645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4BF5A-784A-4A32-A756-7E22C9AD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266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51E2A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CE9E3-4930-4181-8CC4-CA497EC4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D9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4D9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093DE-68CE-45B3-B292-33F97932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启动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D706C-9391-4DA4-BA55-699F001C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npm start</a:t>
            </a:r>
          </a:p>
          <a:p xmlns:a="http://schemas.openxmlformats.org/drawingml/2006/main">
            <a:pPr algn="l">
              <a:defRPr sz="1275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打开 localhost:8000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F2266-6E54-4BB4-81EB-5BD281BE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66950"/>
            <a:ext cx="2266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51E2A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1482C-757D-4766-BF88-2E895FEE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DF654-9001-4C2E-BA81-2D79C4AC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绘画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2BAD7-0397-4584-8211-68CB9978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启动摄像头</a:t>
            </a:r>
          </a:p>
          <a:p xmlns:a="http://schemas.openxmlformats.org/drawingml/2006/main">
            <a:pPr algn="l">
              <a:defRPr sz="1275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捏合画线、松开停笔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0BD05-6E2D-4D6A-91EA-1149E658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2266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51E2A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22AFD-AF22-4801-B946-68BE7FA5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E0A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0E0A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69239-0B90-48DD-831D-435E916D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6EFF7-6111-4ADD-92B9-6F89B395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575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导入 OBJ / GLB</a:t>
            </a:r>
          </a:p>
          <a:p xmlns:a="http://schemas.openxmlformats.org/drawingml/2006/main">
            <a:pPr algn="l">
              <a:defRPr sz="1275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V 字选中，单指移动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19178-114A-4584-9C49-E2AFDB1F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2669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51E2A"/>
          </a:solidFill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9D332E-4417-42EC-83A2-AC491C8C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B338C-E46C-4DC4-9B40-54A69550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高级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C58A2-B725-436B-8D09-E0A24C7B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575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握拳旋转</a:t>
            </a:r>
          </a:p>
          <a:p xmlns:a="http://schemas.openxmlformats.org/drawingml/2006/main">
            <a:pPr algn="l">
              <a:defRPr sz="1275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捏合缩放 / 双手模式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6F596-EBF8-477F-B6B4-BDEB9C12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35F807-9A7A-4218-BBF3-65AEB0EE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提交包已包含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61C148-A43B-45DA-B8BB-02B3FC0F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5B1C2"/>
                </a:solidFill>
                <a:latin typeface="Arial"/>
                <a:ea typeface="Arial"/>
                <a:cs typeface="Arial"/>
              </a:rPr>
              <a:t>说明文档  ·  项目清单  ·  版权声明  ·  现场演示脚本  ·  答辩问答  ·  本 PPT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7C2EE9-0501-44BB-B599-9EF9C595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8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69602D-5C13-40F8-9563-D50802B3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3575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待补：正式项目名、队员、学校、指导教师、仓库地址、演示视频链接。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9CA0D9-AEBF-41B0-B4B0-1207DAB3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34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DF1800-31B7-4805-8E90-32DFFC81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5B1C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5B1C2"/>
                </a:solidFill>
                <a:latin typeface="Arial"/>
                <a:ea typeface="Arial"/>
                <a:cs typeface="Arial"/>
              </a:rPr>
              <a:t>AIR DRAWING  /  项目展示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613435-5437-4BB6-BE67-BB276A89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46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65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59303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2026-10-17T06:46:56.9560000Z</dcterms:created>
  <dcterms:modified xsi:type="dcterms:W3CDTF">2026-10-17T06:46:56.9560000Z</dcterms:modified>
</coreProperties>
</file>